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3" Type="http://schemas.openxmlformats.org/officeDocument/2006/relationships/hyperlink" Target="http://demand.rc.unc.edu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3" Type="http://schemas.openxmlformats.org/officeDocument/2006/relationships/hyperlink" Target="https://git-scm.com/download/win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 Setup and RStudio"/>
          <p:cNvSpPr txBox="1"/>
          <p:nvPr/>
        </p:nvSpPr>
        <p:spPr>
          <a:xfrm>
            <a:off x="8985674" y="1259940"/>
            <a:ext cx="737463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 Setup and RStudio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7454" y="699041"/>
            <a:ext cx="11059744" cy="11496181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tart rstudio with these options on…"/>
          <p:cNvSpPr txBox="1"/>
          <p:nvPr/>
        </p:nvSpPr>
        <p:spPr>
          <a:xfrm>
            <a:off x="13612448" y="2902973"/>
            <a:ext cx="9496654" cy="203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Start rstudio with these options on</a:t>
            </a:r>
          </a:p>
          <a:p>
            <a:pPr>
              <a:defRPr u="sng"/>
            </a:pPr>
            <a:r>
              <a:t> on</a:t>
            </a:r>
            <a:r>
              <a:rPr>
                <a:hlinkClick r:id="rId3" invalidUrl="" action="" tgtFrame="" tooltip="" history="1" highlightClick="0" endSnd="0"/>
              </a:rPr>
              <a:t>demand.rc.unc.edu</a:t>
            </a:r>
          </a:p>
        </p:txBody>
      </p:sp>
      <p:sp>
        <p:nvSpPr>
          <p:cNvPr id="175" name="Alternatively, just use rstudio on your laptop"/>
          <p:cNvSpPr txBox="1"/>
          <p:nvPr/>
        </p:nvSpPr>
        <p:spPr>
          <a:xfrm>
            <a:off x="14089452" y="8086144"/>
            <a:ext cx="9847671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Alternatively, just use rstudio on your laptop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06928" y="1681904"/>
            <a:ext cx="12446001" cy="414020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Wait for job to start"/>
          <p:cNvSpPr txBox="1"/>
          <p:nvPr/>
        </p:nvSpPr>
        <p:spPr>
          <a:xfrm>
            <a:off x="16808659" y="3695763"/>
            <a:ext cx="53300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Wait for job to start</a:t>
            </a:r>
          </a:p>
        </p:txBody>
      </p:sp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83353" y="7177768"/>
            <a:ext cx="12128501" cy="4279901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Click button to start"/>
          <p:cNvSpPr txBox="1"/>
          <p:nvPr/>
        </p:nvSpPr>
        <p:spPr>
          <a:xfrm>
            <a:off x="8367052" y="11712068"/>
            <a:ext cx="551169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Click button to start</a:t>
            </a:r>
          </a:p>
        </p:txBody>
      </p:sp>
      <p:sp>
        <p:nvSpPr>
          <p:cNvPr id="181" name="Line"/>
          <p:cNvSpPr/>
          <p:nvPr/>
        </p:nvSpPr>
        <p:spPr>
          <a:xfrm flipH="1" flipV="1">
            <a:off x="7497933" y="10944217"/>
            <a:ext cx="612145" cy="100288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0301" y="371960"/>
            <a:ext cx="14993514" cy="11443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Rounded Rectangle"/>
          <p:cNvSpPr/>
          <p:nvPr/>
        </p:nvSpPr>
        <p:spPr>
          <a:xfrm>
            <a:off x="14740323" y="1080708"/>
            <a:ext cx="1927991" cy="859953"/>
          </a:xfrm>
          <a:prstGeom prst="roundRect">
            <a:avLst>
              <a:gd name="adj" fmla="val 22152"/>
            </a:avLst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Click on Project"/>
          <p:cNvSpPr txBox="1"/>
          <p:nvPr/>
        </p:nvSpPr>
        <p:spPr>
          <a:xfrm>
            <a:off x="18007238" y="2819382"/>
            <a:ext cx="441563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Click on Project</a:t>
            </a:r>
          </a:p>
        </p:txBody>
      </p:sp>
      <p:sp>
        <p:nvSpPr>
          <p:cNvPr id="186" name="Line"/>
          <p:cNvSpPr/>
          <p:nvPr/>
        </p:nvSpPr>
        <p:spPr>
          <a:xfrm flipH="1" flipV="1">
            <a:off x="16526711" y="2111744"/>
            <a:ext cx="1250803" cy="7974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7" name="If you are working on your laptop and not on demand start here"/>
          <p:cNvSpPr txBox="1"/>
          <p:nvPr/>
        </p:nvSpPr>
        <p:spPr>
          <a:xfrm>
            <a:off x="16731129" y="5345345"/>
            <a:ext cx="7694298" cy="2114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If you are working on your laptop and not on demand start here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7914" y="-518526"/>
            <a:ext cx="16814801" cy="13309601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Rounded Rectangle"/>
          <p:cNvSpPr/>
          <p:nvPr/>
        </p:nvSpPr>
        <p:spPr>
          <a:xfrm>
            <a:off x="14740323" y="1080708"/>
            <a:ext cx="1927991" cy="604509"/>
          </a:xfrm>
          <a:prstGeom prst="roundRect">
            <a:avLst>
              <a:gd name="adj" fmla="val 31513"/>
            </a:avLst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1" name="Select New Project"/>
          <p:cNvSpPr txBox="1"/>
          <p:nvPr/>
        </p:nvSpPr>
        <p:spPr>
          <a:xfrm>
            <a:off x="18007238" y="2819382"/>
            <a:ext cx="530626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Select New Project</a:t>
            </a:r>
          </a:p>
        </p:txBody>
      </p:sp>
      <p:sp>
        <p:nvSpPr>
          <p:cNvPr id="192" name="Line"/>
          <p:cNvSpPr/>
          <p:nvPr/>
        </p:nvSpPr>
        <p:spPr>
          <a:xfrm flipH="1" flipV="1">
            <a:off x="16526711" y="2111744"/>
            <a:ext cx="1250803" cy="79740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80984" y="1418587"/>
            <a:ext cx="7162801" cy="513080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Rounded Rectangle"/>
          <p:cNvSpPr/>
          <p:nvPr/>
        </p:nvSpPr>
        <p:spPr>
          <a:xfrm>
            <a:off x="6620915" y="4703002"/>
            <a:ext cx="6804569" cy="1022285"/>
          </a:xfrm>
          <a:prstGeom prst="roundRect">
            <a:avLst>
              <a:gd name="adj" fmla="val 18635"/>
            </a:avLst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6" name="Select New Project"/>
          <p:cNvSpPr txBox="1"/>
          <p:nvPr/>
        </p:nvSpPr>
        <p:spPr>
          <a:xfrm>
            <a:off x="15805900" y="4942403"/>
            <a:ext cx="530626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Select New Project</a:t>
            </a:r>
          </a:p>
        </p:txBody>
      </p:sp>
      <p:sp>
        <p:nvSpPr>
          <p:cNvPr id="197" name="Line"/>
          <p:cNvSpPr/>
          <p:nvPr/>
        </p:nvSpPr>
        <p:spPr>
          <a:xfrm flipH="1">
            <a:off x="13846017" y="5346619"/>
            <a:ext cx="15901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2149" y="1725454"/>
            <a:ext cx="6642101" cy="480060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Rounded Rectangle"/>
          <p:cNvSpPr/>
          <p:nvPr/>
        </p:nvSpPr>
        <p:spPr>
          <a:xfrm>
            <a:off x="6620915" y="2640930"/>
            <a:ext cx="6804569" cy="1022285"/>
          </a:xfrm>
          <a:prstGeom prst="roundRect">
            <a:avLst>
              <a:gd name="adj" fmla="val 18635"/>
            </a:avLst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1" name="Select Git"/>
          <p:cNvSpPr txBox="1"/>
          <p:nvPr/>
        </p:nvSpPr>
        <p:spPr>
          <a:xfrm>
            <a:off x="15731728" y="2747857"/>
            <a:ext cx="277825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Select Git</a:t>
            </a:r>
          </a:p>
        </p:txBody>
      </p:sp>
      <p:sp>
        <p:nvSpPr>
          <p:cNvPr id="202" name="Line"/>
          <p:cNvSpPr/>
          <p:nvPr/>
        </p:nvSpPr>
        <p:spPr>
          <a:xfrm flipH="1" flipV="1">
            <a:off x="13742914" y="3152072"/>
            <a:ext cx="15901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If you don’t have git - this page has details"/>
          <p:cNvSpPr txBox="1"/>
          <p:nvPr/>
        </p:nvSpPr>
        <p:spPr>
          <a:xfrm>
            <a:off x="15867838" y="7378739"/>
            <a:ext cx="6859322" cy="148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/>
            <a:r>
              <a:t>If you don’t have git - this page has details</a:t>
            </a:r>
          </a:p>
        </p:txBody>
      </p:sp>
      <p:sp>
        <p:nvSpPr>
          <p:cNvPr id="204" name="https://git-scm.com/book/en/v2/Getting-Started-Installing-Git"/>
          <p:cNvSpPr txBox="1"/>
          <p:nvPr/>
        </p:nvSpPr>
        <p:spPr>
          <a:xfrm>
            <a:off x="12945208" y="7931111"/>
            <a:ext cx="9921038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/>
            </a:lvl1pPr>
          </a:lstStyle>
          <a:p>
            <a:pPr/>
            <a:r>
              <a:t>https://git-scm.com/book/en/v2/Getting-Started-Installing-Git</a:t>
            </a:r>
          </a:p>
        </p:txBody>
      </p:sp>
      <p:sp>
        <p:nvSpPr>
          <p:cNvPr id="205" name="On Mac: open a terminal and type git —version…"/>
          <p:cNvSpPr txBox="1"/>
          <p:nvPr/>
        </p:nvSpPr>
        <p:spPr>
          <a:xfrm>
            <a:off x="8596433" y="8820346"/>
            <a:ext cx="15203120" cy="172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/>
            </a:pPr>
            <a:r>
              <a:t>On Mac: open a terminal and type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git —version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spcBef>
                <a:spcPts val="0"/>
              </a:spcBef>
              <a:defRPr sz="2800"/>
            </a:pPr>
            <a:r>
              <a:t>This will start the download and installation. It may take a while if you don’t already have Xcode</a:t>
            </a:r>
          </a:p>
          <a:p>
            <a:pPr>
              <a:spcBef>
                <a:spcPts val="0"/>
              </a:spcBef>
              <a:defRPr sz="2800"/>
            </a:pPr>
          </a:p>
          <a:p>
            <a:pPr>
              <a:spcBef>
                <a:spcPts val="0"/>
              </a:spcBef>
              <a:defRPr sz="2800"/>
            </a:pPr>
            <a:r>
              <a:t>On Windows:</a:t>
            </a:r>
          </a:p>
        </p:txBody>
      </p:sp>
      <p:sp>
        <p:nvSpPr>
          <p:cNvPr id="206" name="https://git-scm.com/download/win     The installer is here"/>
          <p:cNvSpPr txBox="1"/>
          <p:nvPr/>
        </p:nvSpPr>
        <p:spPr>
          <a:xfrm>
            <a:off x="11090449" y="10084695"/>
            <a:ext cx="787633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/>
            </a:pPr>
            <a:r>
              <a:rPr u="sng">
                <a:hlinkClick r:id="rId3" invalidUrl="" action="" tgtFrame="" tooltip="" history="1" highlightClick="0" endSnd="0"/>
              </a:rPr>
              <a:t>https://git-scm.com/download/win</a:t>
            </a:r>
            <a:r>
              <a:t>     The installer is here</a:t>
            </a:r>
          </a:p>
        </p:txBody>
      </p:sp>
      <p:sp>
        <p:nvSpPr>
          <p:cNvPr id="207" name="If you are working on ondemand you do not need to do this"/>
          <p:cNvSpPr txBox="1"/>
          <p:nvPr/>
        </p:nvSpPr>
        <p:spPr>
          <a:xfrm>
            <a:off x="7903086" y="11634739"/>
            <a:ext cx="1626199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If you are working on ondemand you do not need to do this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https://github.com/jraab/GNET749_RNAseq.git"/>
          <p:cNvSpPr txBox="1"/>
          <p:nvPr/>
        </p:nvSpPr>
        <p:spPr>
          <a:xfrm>
            <a:off x="6728728" y="409336"/>
            <a:ext cx="129628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https://github.com/jraab/GNET749_RNAseq.git</a:t>
            </a:r>
          </a:p>
        </p:txBody>
      </p:sp>
      <p:pic>
        <p:nvPicPr>
          <p:cNvPr id="21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1831" y="5369400"/>
            <a:ext cx="6756401" cy="488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Enter this url in the ‘Repository URL:’ Field…"/>
          <p:cNvSpPr txBox="1"/>
          <p:nvPr/>
        </p:nvSpPr>
        <p:spPr>
          <a:xfrm>
            <a:off x="6743170" y="2042957"/>
            <a:ext cx="7425793" cy="1302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/>
            </a:pPr>
            <a:r>
              <a:t>Enter this url in the ‘Repository URL:’ Field</a:t>
            </a:r>
          </a:p>
          <a:p>
            <a:pPr>
              <a:spcBef>
                <a:spcPts val="0"/>
              </a:spcBef>
              <a:defRPr sz="2800"/>
            </a:pPr>
            <a:r>
              <a:t>Name the project directory anything you’d like</a:t>
            </a:r>
          </a:p>
          <a:p>
            <a:pPr>
              <a:spcBef>
                <a:spcPts val="0"/>
              </a:spcBef>
              <a:defRPr sz="2800"/>
            </a:pPr>
            <a:r>
              <a:t>Then click create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1219" y="2221130"/>
            <a:ext cx="7975601" cy="3860801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You will see lots of files being downloaded…"/>
          <p:cNvSpPr txBox="1"/>
          <p:nvPr/>
        </p:nvSpPr>
        <p:spPr>
          <a:xfrm>
            <a:off x="12027229" y="3302499"/>
            <a:ext cx="11628426" cy="203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You will see lots of files being downloaded</a:t>
            </a:r>
          </a:p>
          <a:p>
            <a:pPr/>
            <a:r>
              <a:t>This is all the code from the class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1442" y="196057"/>
            <a:ext cx="16941801" cy="12344401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Project name"/>
          <p:cNvSpPr txBox="1"/>
          <p:nvPr/>
        </p:nvSpPr>
        <p:spPr>
          <a:xfrm>
            <a:off x="19502240" y="500750"/>
            <a:ext cx="371642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Project name</a:t>
            </a:r>
          </a:p>
        </p:txBody>
      </p:sp>
      <p:sp>
        <p:nvSpPr>
          <p:cNvPr id="218" name="Rounded Rectangle"/>
          <p:cNvSpPr/>
          <p:nvPr/>
        </p:nvSpPr>
        <p:spPr>
          <a:xfrm>
            <a:off x="16892610" y="500750"/>
            <a:ext cx="2523707" cy="808432"/>
          </a:xfrm>
          <a:prstGeom prst="roundRect">
            <a:avLst>
              <a:gd name="adj" fmla="val 23564"/>
            </a:avLst>
          </a:prstGeom>
          <a:ln w="508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1442" y="196057"/>
            <a:ext cx="16941801" cy="12344401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Files in…"/>
          <p:cNvSpPr txBox="1"/>
          <p:nvPr/>
        </p:nvSpPr>
        <p:spPr>
          <a:xfrm>
            <a:off x="19618232" y="6810237"/>
            <a:ext cx="3027579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0"/>
              </a:spcBef>
            </a:pPr>
            <a:r>
              <a:t>Files in </a:t>
            </a:r>
          </a:p>
          <a:p>
            <a:pPr>
              <a:spcBef>
                <a:spcPts val="0"/>
              </a:spcBef>
            </a:pPr>
            <a:r>
              <a:t>the project</a:t>
            </a:r>
          </a:p>
        </p:txBody>
      </p:sp>
      <p:sp>
        <p:nvSpPr>
          <p:cNvPr id="222" name="Rounded Rectangle"/>
          <p:cNvSpPr/>
          <p:nvPr/>
        </p:nvSpPr>
        <p:spPr>
          <a:xfrm>
            <a:off x="13812390" y="5964042"/>
            <a:ext cx="5641634" cy="4131056"/>
          </a:xfrm>
          <a:prstGeom prst="roundRect">
            <a:avLst>
              <a:gd name="adj" fmla="val 10309"/>
            </a:avLst>
          </a:prstGeom>
          <a:ln w="508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2016" y="80442"/>
            <a:ext cx="16929101" cy="12395201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o get updates go to…"/>
          <p:cNvSpPr txBox="1"/>
          <p:nvPr/>
        </p:nvSpPr>
        <p:spPr>
          <a:xfrm>
            <a:off x="4629546" y="5853760"/>
            <a:ext cx="8664856" cy="169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To get updates go to</a:t>
            </a:r>
          </a:p>
          <a:p>
            <a:pPr>
              <a:defRPr sz="3600"/>
            </a:pPr>
            <a:r>
              <a:t> Tools -&gt; Version Control -&gt; Pull Branches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2016" y="80442"/>
            <a:ext cx="16929101" cy="1239520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o get updates go to…"/>
          <p:cNvSpPr txBox="1"/>
          <p:nvPr/>
        </p:nvSpPr>
        <p:spPr>
          <a:xfrm>
            <a:off x="4629546" y="5853760"/>
            <a:ext cx="8664856" cy="169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To get updates go to</a:t>
            </a:r>
          </a:p>
          <a:p>
            <a:pPr>
              <a:defRPr sz="3600"/>
            </a:pPr>
            <a:r>
              <a:t> Tools -&gt; Version Control -&gt; Pull Branches</a:t>
            </a:r>
          </a:p>
        </p:txBody>
      </p:sp>
      <p:sp>
        <p:nvSpPr>
          <p:cNvPr id="229" name="If you don’t see ‘Pull Branches’…"/>
          <p:cNvSpPr txBox="1"/>
          <p:nvPr/>
        </p:nvSpPr>
        <p:spPr>
          <a:xfrm>
            <a:off x="5892565" y="8365523"/>
            <a:ext cx="4348583" cy="2269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400">
                <a:solidFill>
                  <a:schemeClr val="accent5">
                    <a:lumOff val="-29866"/>
                  </a:schemeClr>
                </a:solidFill>
              </a:defRPr>
            </a:pPr>
            <a:r>
              <a:t>If you don’t see ‘Pull Branches’</a:t>
            </a:r>
          </a:p>
          <a:p>
            <a:pPr>
              <a:defRPr sz="2400">
                <a:solidFill>
                  <a:schemeClr val="accent5">
                    <a:lumOff val="-29866"/>
                  </a:schemeClr>
                </a:solidFill>
              </a:defRPr>
            </a:pPr>
            <a:r>
              <a:t>You do not have `git` installed.</a:t>
            </a:r>
          </a:p>
          <a:p>
            <a:pPr>
              <a:defRPr sz="2400">
                <a:solidFill>
                  <a:schemeClr val="accent5">
                    <a:lumOff val="-29866"/>
                  </a:schemeClr>
                </a:solidFill>
              </a:defRPr>
            </a:pPr>
            <a:r>
              <a:t>Go back to slide 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6481" y="277332"/>
            <a:ext cx="16865601" cy="1287780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After restarting R or logging back into ondemand…"/>
          <p:cNvSpPr txBox="1"/>
          <p:nvPr/>
        </p:nvSpPr>
        <p:spPr>
          <a:xfrm>
            <a:off x="18921577" y="1774086"/>
            <a:ext cx="4223235" cy="179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spcBef>
                <a:spcPts val="0"/>
              </a:spcBef>
              <a:defRPr sz="2400"/>
            </a:pPr>
            <a:r>
              <a:t>After restarting R or logging back into ondemand</a:t>
            </a:r>
          </a:p>
          <a:p>
            <a:pPr>
              <a:spcBef>
                <a:spcPts val="0"/>
              </a:spcBef>
              <a:defRPr sz="2400"/>
            </a:pPr>
            <a:r>
              <a:t>You can find and open you project by clicking on the </a:t>
            </a:r>
          </a:p>
          <a:p>
            <a:pPr>
              <a:spcBef>
                <a:spcPts val="0"/>
              </a:spcBef>
              <a:defRPr sz="2400">
                <a:solidFill>
                  <a:schemeClr val="accent5">
                    <a:lumOff val="-29866"/>
                  </a:schemeClr>
                </a:solidFill>
              </a:defRPr>
            </a:pPr>
            <a:r>
              <a:t>Project tab</a:t>
            </a:r>
          </a:p>
        </p:txBody>
      </p:sp>
      <p:sp>
        <p:nvSpPr>
          <p:cNvPr id="233" name="Rounded Rectangle"/>
          <p:cNvSpPr/>
          <p:nvPr/>
        </p:nvSpPr>
        <p:spPr>
          <a:xfrm>
            <a:off x="16412434" y="1145147"/>
            <a:ext cx="1840393" cy="548226"/>
          </a:xfrm>
          <a:prstGeom prst="roundRect">
            <a:avLst>
              <a:gd name="adj" fmla="val 34749"/>
            </a:avLst>
          </a:prstGeom>
          <a:ln w="508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Why use projects…"/>
          <p:cNvSpPr txBox="1"/>
          <p:nvPr/>
        </p:nvSpPr>
        <p:spPr>
          <a:xfrm>
            <a:off x="3624286" y="3868242"/>
            <a:ext cx="19258789" cy="5979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Why use projects</a:t>
            </a:r>
          </a:p>
          <a:p>
            <a:pPr marL="228600" indent="-228600">
              <a:spcBef>
                <a:spcPts val="3000"/>
              </a:spcBef>
              <a:buSzPct val="100000"/>
              <a:buChar char="•"/>
            </a:pPr>
            <a:r>
              <a:t>Consistent working directory</a:t>
            </a:r>
          </a:p>
          <a:p>
            <a:pPr marL="228600" indent="-228600">
              <a:spcBef>
                <a:spcPts val="3000"/>
              </a:spcBef>
              <a:buSzPct val="100000"/>
              <a:buChar char="•"/>
            </a:pPr>
            <a:r>
              <a:t>Simplifies file paths - using `here` package (here::here) </a:t>
            </a:r>
          </a:p>
          <a:p>
            <a:pPr marL="228600" indent="-228600">
              <a:spcBef>
                <a:spcPts val="3000"/>
              </a:spcBef>
              <a:buSzPct val="100000"/>
              <a:buChar char="•"/>
            </a:pPr>
            <a:r>
              <a:t>Integrates version control - use Tools-&gt;version control - pull branches</a:t>
            </a:r>
          </a:p>
          <a:p>
            <a:pPr marL="228600" indent="-228600">
              <a:spcBef>
                <a:spcPts val="3000"/>
              </a:spcBef>
              <a:buSzPct val="100000"/>
              <a:buChar char="•"/>
            </a:pPr>
            <a:r>
              <a:t>Reproducibility</a:t>
            </a:r>
          </a:p>
          <a:p>
            <a:pPr marL="228600" indent="-228600">
              <a:spcBef>
                <a:spcPts val="3000"/>
              </a:spcBef>
              <a:buSzPct val="100000"/>
              <a:buChar char="•"/>
            </a:pPr>
            <a:r>
              <a:t>Environment management -use `renv` package</a:t>
            </a:r>
          </a:p>
        </p:txBody>
      </p:sp>
      <p:sp>
        <p:nvSpPr>
          <p:cNvPr id="236" name="What is that .Rproj file"/>
          <p:cNvSpPr txBox="1"/>
          <p:nvPr/>
        </p:nvSpPr>
        <p:spPr>
          <a:xfrm>
            <a:off x="7294165" y="628431"/>
            <a:ext cx="610971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that .Rproj file</a:t>
            </a:r>
          </a:p>
        </p:txBody>
      </p:sp>
      <p:sp>
        <p:nvSpPr>
          <p:cNvPr id="237" name="Rprojects"/>
          <p:cNvSpPr txBox="1"/>
          <p:nvPr/>
        </p:nvSpPr>
        <p:spPr>
          <a:xfrm>
            <a:off x="15339432" y="628431"/>
            <a:ext cx="28916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Rprojects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