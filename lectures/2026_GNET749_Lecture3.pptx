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302" r:id="rId3"/>
    <p:sldId id="305" r:id="rId4"/>
    <p:sldId id="300" r:id="rId5"/>
    <p:sldId id="304" r:id="rId6"/>
    <p:sldId id="301" r:id="rId7"/>
    <p:sldId id="311" r:id="rId8"/>
    <p:sldId id="313" r:id="rId9"/>
    <p:sldId id="314" r:id="rId10"/>
    <p:sldId id="315" r:id="rId11"/>
    <p:sldId id="283" r:id="rId12"/>
    <p:sldId id="320" r:id="rId13"/>
    <p:sldId id="308" r:id="rId14"/>
    <p:sldId id="321" r:id="rId15"/>
    <p:sldId id="324" r:id="rId16"/>
    <p:sldId id="325" r:id="rId17"/>
    <p:sldId id="30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10"/>
    <p:restoredTop sz="96327"/>
  </p:normalViewPr>
  <p:slideViewPr>
    <p:cSldViewPr snapToGrid="0">
      <p:cViewPr varScale="1">
        <p:scale>
          <a:sx n="127" d="100"/>
          <a:sy n="127" d="100"/>
        </p:scale>
        <p:origin x="9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3B269-BCFD-3E4D-9867-060E5123D2F8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6B3379-F2CF-4942-96A4-C1A179FD7E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656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33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33" name="Shape 33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 have mentioned that dds is a ‘SummarizedExperiment’ object , what is this. DDS is actually a DEseqDataset - which itself is an extension of RangedSummarizedExperiments which is an extension of SummarizedExperiment.</a:t>
            </a:r>
          </a:p>
          <a:p>
            <a:endParaRPr/>
          </a:p>
          <a:p>
            <a:r>
              <a:t>These are something a little more fancy than a list or a dataframe or a string. These are called objects and the bioconductor project has tried to formalize the usage of a specific style of these objects for genomics data. 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91346-4687-893B-F66F-29286A9509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8A3F5-AA2B-9B2B-6F28-ADC95D9B31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442D1-8EB7-7CE9-38DB-D5FEBF39B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CED19-332E-B621-026E-C91283849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1D464-56DF-3650-D649-45CC629C8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578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2411B-8B74-E13D-D335-84174B85D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97358-8B76-79B3-A9F3-71690E22F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B579C-68AF-823F-B7DB-C08AFCF17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4590B9-AC92-484C-EDA6-1A2A780D0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D9BCA-90EC-4F08-DA2D-70753E6B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003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06261-649E-2B65-3932-EEC0B3B79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47D0FD-A82C-0487-C35F-81CFF4347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6F53D-D839-B83E-DA68-04CE10837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A6831-2A4C-AD52-F8DE-4D322DEEC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AD9893-E004-EC54-97DE-52E5A02D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286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E3345-71D0-4031-1715-1FFED5D79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6901F-5B3D-02F4-DAC0-A122579790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B06005-D331-52E9-C4F6-4635B0F9F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19D10B-D57A-83C1-9D2E-5C1DF65EB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D5127-0C25-9DB7-F59A-2CB7C7912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62CAAC-737F-B3D9-63E0-B8D716373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21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8913B-68E0-2C2E-AA58-535B000B6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80C25-5979-3767-EF57-20657726B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853484-AE47-FD77-C6D6-D774B7FD81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C5AC9D-A330-DA2E-9C1C-2B9A9ABAC5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C553FB-4648-0A24-6DCC-10B410219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3BEA7D-F8CB-1695-3634-42DC29A0E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8247AA-12A5-68F3-A724-F725399F3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4B929C-E06A-5410-4DE2-1B5796BC2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424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D59DE-CD32-69A3-D582-FF7CA9441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713956-4CEA-FD0D-D379-EE2CC9270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087088-235E-BECC-8505-8C8C8BAEA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A9DEDC-D6FD-EE13-18B8-BA5E6AEA4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313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3B97C6-8DE5-7D98-36AF-71DA0B408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F6C5AC-9C4A-1BFE-D3F5-12708C2A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56128-D7FC-F94E-4174-E5CAC657E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582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F5182-50BE-BDDB-DF91-09E52DF48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69A3B-14A7-196D-5570-8681864CF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1A86EC-7320-E853-D6E7-118686E90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FACF2D-475B-B405-2D49-33C421084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CC754-43C4-EDF3-1818-9E3B69301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B49DCC-94CB-8E66-D530-185BC008A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33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D93-62E3-1E7B-7134-8922CA157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565C1-B0A3-B72A-F2B6-DBB2597E65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4C41C8-E20B-AC8B-BB74-1322264AE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275F69-312A-0E03-3E9C-75FBB7A3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536881-32B5-30B0-F8D9-8D8274A9C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0FEC46-8B98-EFA0-A3AD-AAECE9BD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667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28C3A-7DFD-90DC-F879-7919E98AF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625480-2D74-CEAE-7E64-310A6A022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83ED6-8119-57B2-31BD-E9110E22C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B4FC0-E362-781E-A9FC-C9B12B599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15EFA-D265-35B7-0B49-27F09247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544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7B8BB0-7BAD-7BA6-3F86-89BD61FB9B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CFF786-5D43-2E9A-E6E6-F02772364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99103-BB91-5FFD-EABC-B70D2D87A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57885-A884-07D8-7088-DD2E506CD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9B64B-7B24-EF49-CE1F-5055B89E0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430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A606FC-3D46-D208-ABB2-6983C3231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0F3483-A9F2-A14E-B287-11EF67013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3261B-2BC0-6DE9-D0BA-722345CAFE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BA9DE-A22B-9A47-BD58-93CE3EC695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863C-9DDE-DB08-6EC2-8C4F795046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AD63A-6ED6-C891-4E81-0A484E8156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983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00D3EE-825C-D9E2-9138-06859FE6FB2A}"/>
              </a:ext>
            </a:extLst>
          </p:cNvPr>
          <p:cNvSpPr txBox="1"/>
          <p:nvPr/>
        </p:nvSpPr>
        <p:spPr>
          <a:xfrm>
            <a:off x="1979505" y="258859"/>
            <a:ext cx="9142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3 – Creating your own functions and new data structures and best practices </a:t>
            </a:r>
          </a:p>
        </p:txBody>
      </p:sp>
    </p:spTree>
    <p:extLst>
      <p:ext uri="{BB962C8B-B14F-4D97-AF65-F5344CB8AC3E}">
        <p14:creationId xmlns:p14="http://schemas.microsoft.com/office/powerpoint/2010/main" val="3501434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949B-90AB-DC09-FBC4-4B96BF4EB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0592-07B8-8124-CD74-D900599B8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0322" y="1887877"/>
            <a:ext cx="10515600" cy="4351338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Tidy Data (wide vs long format of data)</a:t>
            </a:r>
          </a:p>
          <a:p>
            <a:pPr marL="342900" indent="-342900">
              <a:buAutoNum type="arabicPeriod"/>
            </a:pPr>
            <a:r>
              <a:rPr lang="en-US" dirty="0"/>
              <a:t>Plotting</a:t>
            </a:r>
          </a:p>
          <a:p>
            <a:pPr marL="342900" indent="-342900">
              <a:buAutoNum type="arabicPeriod"/>
            </a:pPr>
            <a:r>
              <a:rPr lang="en-US" dirty="0"/>
              <a:t>Merging and joining (relational data)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547BD-2FEA-61ED-BFCF-BE9424EC3D86}"/>
              </a:ext>
            </a:extLst>
          </p:cNvPr>
          <p:cNvSpPr txBox="1"/>
          <p:nvPr/>
        </p:nvSpPr>
        <p:spPr>
          <a:xfrm>
            <a:off x="9405992" y="781595"/>
            <a:ext cx="2208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to class </a:t>
            </a:r>
            <a:r>
              <a:rPr lang="en-US" dirty="0" err="1"/>
              <a:t>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459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686441-1642-EEE4-7FB0-599CD21B8029}"/>
              </a:ext>
            </a:extLst>
          </p:cNvPr>
          <p:cNvSpPr txBox="1"/>
          <p:nvPr/>
        </p:nvSpPr>
        <p:spPr>
          <a:xfrm>
            <a:off x="3434080" y="880533"/>
            <a:ext cx="6035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Today’s Goals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1CF691-BC8E-3FA6-A643-D01141636EDE}"/>
              </a:ext>
            </a:extLst>
          </p:cNvPr>
          <p:cNvSpPr txBox="1"/>
          <p:nvPr/>
        </p:nvSpPr>
        <p:spPr>
          <a:xfrm>
            <a:off x="3522133" y="1842347"/>
            <a:ext cx="57302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Additional Plotting</a:t>
            </a:r>
          </a:p>
          <a:p>
            <a:pPr marL="342900" indent="-342900">
              <a:buAutoNum type="arabicPeriod"/>
            </a:pPr>
            <a:r>
              <a:rPr lang="en-US" dirty="0"/>
              <a:t>Factors </a:t>
            </a:r>
          </a:p>
          <a:p>
            <a:pPr marL="342900" indent="-342900">
              <a:buAutoNum type="arabicPeriod"/>
            </a:pPr>
            <a:r>
              <a:rPr lang="en-US" dirty="0"/>
              <a:t>Functions</a:t>
            </a:r>
          </a:p>
          <a:p>
            <a:pPr marL="342900" indent="-342900">
              <a:buAutoNum type="arabicPeriod"/>
            </a:pPr>
            <a:r>
              <a:rPr lang="en-US" dirty="0"/>
              <a:t>Loops</a:t>
            </a:r>
          </a:p>
          <a:p>
            <a:pPr marL="342900" indent="-342900">
              <a:buAutoNum type="arabicPeriod"/>
            </a:pPr>
            <a:r>
              <a:rPr lang="en-US" dirty="0"/>
              <a:t>Summarized experiment</a:t>
            </a:r>
          </a:p>
          <a:p>
            <a:pPr marL="342900" indent="-342900">
              <a:buAutoNum type="arabicPeriod"/>
            </a:pPr>
            <a:r>
              <a:rPr lang="en-US" dirty="0"/>
              <a:t>Best practices</a:t>
            </a:r>
          </a:p>
          <a:p>
            <a:pPr marL="342900" indent="-342900">
              <a:buFontTx/>
              <a:buAutoNum type="arabicPeriod"/>
            </a:pPr>
            <a:r>
              <a:rPr lang="en-US" dirty="0"/>
              <a:t>Practice</a:t>
            </a:r>
          </a:p>
          <a:p>
            <a:pPr marL="342900" indent="-342900">
              <a:buFontTx/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636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Functions"/>
          <p:cNvSpPr txBox="1"/>
          <p:nvPr/>
        </p:nvSpPr>
        <p:spPr>
          <a:xfrm>
            <a:off x="5399151" y="177130"/>
            <a:ext cx="140250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400"/>
              <a:t>Functions</a:t>
            </a:r>
          </a:p>
        </p:txBody>
      </p:sp>
      <p:sp>
        <p:nvSpPr>
          <p:cNvPr id="395" name="-https://r4ds.had.co.nz/functions.html"/>
          <p:cNvSpPr txBox="1"/>
          <p:nvPr/>
        </p:nvSpPr>
        <p:spPr>
          <a:xfrm>
            <a:off x="9674735" y="6181098"/>
            <a:ext cx="1888337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 dirty="0"/>
              <a:t> -https://r4ds.had.co.nz/</a:t>
            </a:r>
            <a:r>
              <a:rPr sz="900" dirty="0" err="1"/>
              <a:t>functions.html</a:t>
            </a:r>
            <a:endParaRPr sz="900" dirty="0"/>
          </a:p>
        </p:txBody>
      </p:sp>
      <p:sp>
        <p:nvSpPr>
          <p:cNvPr id="397" name="Any chunk of code you are going to reuse - can be built in or come with a package or user made…"/>
          <p:cNvSpPr txBox="1"/>
          <p:nvPr/>
        </p:nvSpPr>
        <p:spPr>
          <a:xfrm>
            <a:off x="518306" y="1276929"/>
            <a:ext cx="6631765" cy="11592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400" tIns="25400" rIns="25400" bIns="25400" anchor="ctr">
            <a:spAutoFit/>
          </a:bodyPr>
          <a:lstStyle/>
          <a:p>
            <a:pPr marL="114300" indent="-114300">
              <a:buSzPct val="100000"/>
              <a:buChar char="•"/>
            </a:pPr>
            <a:r>
              <a:rPr dirty="0"/>
              <a:t>Any chunk of code you are going to reuse - can be built in or come with a package or user made</a:t>
            </a:r>
          </a:p>
          <a:p>
            <a:pPr marL="114300" indent="-114300">
              <a:buSzPct val="100000"/>
              <a:buChar char="•"/>
            </a:pPr>
            <a:r>
              <a:rPr dirty="0"/>
              <a:t>Can take 0 or more arguments</a:t>
            </a:r>
          </a:p>
          <a:p>
            <a:pPr marL="114300" indent="-114300">
              <a:buSzPct val="100000"/>
              <a:buChar char="•"/>
            </a:pPr>
            <a:r>
              <a:rPr dirty="0"/>
              <a:t>Can return some value(s) or objects</a:t>
            </a:r>
          </a:p>
        </p:txBody>
      </p:sp>
      <p:sp>
        <p:nvSpPr>
          <p:cNvPr id="398" name="What are functions"/>
          <p:cNvSpPr txBox="1"/>
          <p:nvPr/>
        </p:nvSpPr>
        <p:spPr>
          <a:xfrm>
            <a:off x="518306" y="885933"/>
            <a:ext cx="2018822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>
                <a:solidFill>
                  <a:schemeClr val="accent1">
                    <a:lumOff val="-13575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1800" dirty="0"/>
              <a:t>What are functions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Functions"/>
          <p:cNvSpPr txBox="1"/>
          <p:nvPr/>
        </p:nvSpPr>
        <p:spPr>
          <a:xfrm>
            <a:off x="5399151" y="177130"/>
            <a:ext cx="140250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400"/>
              <a:t>Functions</a:t>
            </a:r>
          </a:p>
        </p:txBody>
      </p:sp>
      <p:sp>
        <p:nvSpPr>
          <p:cNvPr id="394" name="You can give a function an evocative name that makes your code easier to understand.…"/>
          <p:cNvSpPr txBox="1"/>
          <p:nvPr/>
        </p:nvSpPr>
        <p:spPr>
          <a:xfrm>
            <a:off x="227597" y="4444221"/>
            <a:ext cx="9495292" cy="1867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355600" indent="-285750" defTabSz="228600">
              <a:spcBef>
                <a:spcPts val="300"/>
              </a:spcBef>
              <a:buClr>
                <a:srgbClr val="212529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lang="en-US" dirty="0"/>
              <a:t>Time savings</a:t>
            </a:r>
          </a:p>
          <a:p>
            <a:pPr marL="355600" indent="-285750" defTabSz="228600">
              <a:spcBef>
                <a:spcPts val="300"/>
              </a:spcBef>
              <a:buClr>
                <a:srgbClr val="212529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You can give a functi</a:t>
            </a:r>
            <a:r>
              <a:rPr lang="en-US" dirty="0"/>
              <a:t>o</a:t>
            </a:r>
            <a:r>
              <a:rPr dirty="0"/>
              <a:t>n a </a:t>
            </a:r>
            <a:r>
              <a:rPr lang="en-US" dirty="0"/>
              <a:t>descriptive</a:t>
            </a:r>
            <a:r>
              <a:rPr dirty="0"/>
              <a:t> name that makes your code easier to understand.</a:t>
            </a:r>
          </a:p>
          <a:p>
            <a:pPr marL="355600" indent="-285750" defTabSz="228600">
              <a:spcBef>
                <a:spcPts val="300"/>
              </a:spcBef>
              <a:buClr>
                <a:srgbClr val="212529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As requirements change, you only n</a:t>
            </a:r>
            <a:r>
              <a:rPr lang="en-US" dirty="0"/>
              <a:t>e</a:t>
            </a:r>
            <a:r>
              <a:rPr dirty="0"/>
              <a:t>ed to update code in one place, instead of many.</a:t>
            </a:r>
          </a:p>
          <a:p>
            <a:pPr marL="355600" indent="-285750" defTabSz="228600">
              <a:spcBef>
                <a:spcPts val="300"/>
              </a:spcBef>
              <a:buClr>
                <a:srgbClr val="212529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You eliminate the chance of making incidental mistakes when you copy and paste </a:t>
            </a:r>
            <a:endParaRPr lang="en-US" dirty="0"/>
          </a:p>
          <a:p>
            <a:pPr marL="527050" lvl="1" defTabSz="228600">
              <a:spcBef>
                <a:spcPts val="300"/>
              </a:spcBef>
              <a:buClr>
                <a:srgbClr val="212529"/>
              </a:buClr>
              <a:buSzPct val="100000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(i.e. updating a variable name in one place, but not in another).</a:t>
            </a:r>
            <a:br>
              <a:rPr dirty="0"/>
            </a:br>
            <a:endParaRPr dirty="0"/>
          </a:p>
        </p:txBody>
      </p:sp>
      <p:sp>
        <p:nvSpPr>
          <p:cNvPr id="395" name="-https://r4ds.had.co.nz/functions.html"/>
          <p:cNvSpPr txBox="1"/>
          <p:nvPr/>
        </p:nvSpPr>
        <p:spPr>
          <a:xfrm>
            <a:off x="9674735" y="6181098"/>
            <a:ext cx="1888337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 dirty="0"/>
              <a:t> -https://r4ds.had.co.nz/</a:t>
            </a:r>
            <a:r>
              <a:rPr sz="900" dirty="0" err="1"/>
              <a:t>functions.html</a:t>
            </a:r>
            <a:endParaRPr sz="900" dirty="0"/>
          </a:p>
        </p:txBody>
      </p:sp>
      <p:sp>
        <p:nvSpPr>
          <p:cNvPr id="396" name="Reasons to make a new function"/>
          <p:cNvSpPr txBox="1"/>
          <p:nvPr/>
        </p:nvSpPr>
        <p:spPr>
          <a:xfrm>
            <a:off x="417099" y="4093485"/>
            <a:ext cx="3417089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>
                <a:solidFill>
                  <a:schemeClr val="accent1">
                    <a:lumOff val="-13575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1800" dirty="0"/>
              <a:t>Reasons to make a new function</a:t>
            </a:r>
          </a:p>
        </p:txBody>
      </p:sp>
      <p:sp>
        <p:nvSpPr>
          <p:cNvPr id="397" name="Any chunk of code you are going to reuse - can be built in or come with a package or user made…"/>
          <p:cNvSpPr txBox="1"/>
          <p:nvPr/>
        </p:nvSpPr>
        <p:spPr>
          <a:xfrm>
            <a:off x="518306" y="1276929"/>
            <a:ext cx="6631765" cy="11592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 anchor="ctr">
            <a:spAutoFit/>
          </a:bodyPr>
          <a:lstStyle/>
          <a:p>
            <a:pPr marL="114300" indent="-114300">
              <a:buSzPct val="100000"/>
              <a:buChar char="•"/>
            </a:pPr>
            <a:r>
              <a:rPr dirty="0"/>
              <a:t>Any chunk of code you are going to reuse - can be built in or come with a package or user made</a:t>
            </a:r>
          </a:p>
          <a:p>
            <a:pPr marL="114300" indent="-114300">
              <a:buSzPct val="100000"/>
              <a:buChar char="•"/>
            </a:pPr>
            <a:r>
              <a:rPr dirty="0"/>
              <a:t>Can take 0 or more arguments</a:t>
            </a:r>
          </a:p>
          <a:p>
            <a:pPr marL="114300" indent="-114300">
              <a:buSzPct val="100000"/>
              <a:buChar char="•"/>
            </a:pPr>
            <a:r>
              <a:rPr dirty="0"/>
              <a:t>Can return some value(s) or objects</a:t>
            </a:r>
          </a:p>
        </p:txBody>
      </p:sp>
      <p:sp>
        <p:nvSpPr>
          <p:cNvPr id="398" name="What are functions"/>
          <p:cNvSpPr txBox="1"/>
          <p:nvPr/>
        </p:nvSpPr>
        <p:spPr>
          <a:xfrm>
            <a:off x="518306" y="885933"/>
            <a:ext cx="2018822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>
                <a:solidFill>
                  <a:schemeClr val="accent1">
                    <a:lumOff val="-13575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1800" dirty="0"/>
              <a:t>What are functions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7A7431-E88C-E9CF-C22F-AC7EF771D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1651" y="597758"/>
            <a:ext cx="4655016" cy="36897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451805A-0E44-C150-4134-EB8DE67D9954}"/>
              </a:ext>
            </a:extLst>
          </p:cNvPr>
          <p:cNvSpPr txBox="1"/>
          <p:nvPr/>
        </p:nvSpPr>
        <p:spPr>
          <a:xfrm>
            <a:off x="9428480" y="58117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xkcd.com</a:t>
            </a:r>
            <a:r>
              <a:rPr lang="en-US" dirty="0"/>
              <a:t>/1205/</a:t>
            </a:r>
          </a:p>
        </p:txBody>
      </p:sp>
    </p:spTree>
    <p:extLst>
      <p:ext uri="{BB962C8B-B14F-4D97-AF65-F5344CB8AC3E}">
        <p14:creationId xmlns:p14="http://schemas.microsoft.com/office/powerpoint/2010/main" val="1996646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29A493F-FCD9-7CA9-DCC5-2EC6A8A29730}"/>
              </a:ext>
            </a:extLst>
          </p:cNvPr>
          <p:cNvSpPr txBox="1"/>
          <p:nvPr/>
        </p:nvSpPr>
        <p:spPr>
          <a:xfrm>
            <a:off x="4991463" y="137433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Basic Function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066490-4A50-1E52-4903-99915B053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9540" y="3094264"/>
            <a:ext cx="2400300" cy="520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D80E2F-BE9F-BAFB-09A6-37EFF5A57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983" y="1670112"/>
            <a:ext cx="4216400" cy="1054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CB1FD7-0E59-94FC-00CA-3CD30F0175C1}"/>
              </a:ext>
            </a:extLst>
          </p:cNvPr>
          <p:cNvSpPr txBox="1"/>
          <p:nvPr/>
        </p:nvSpPr>
        <p:spPr>
          <a:xfrm>
            <a:off x="5622646" y="1123043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Function name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77025EA-9293-FFED-DFFF-DB02D893C57E}"/>
              </a:ext>
            </a:extLst>
          </p:cNvPr>
          <p:cNvCxnSpPr/>
          <p:nvPr/>
        </p:nvCxnSpPr>
        <p:spPr>
          <a:xfrm>
            <a:off x="7135586" y="1335377"/>
            <a:ext cx="155121" cy="33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1F89C21-4F61-5000-93C2-1B637C820693}"/>
              </a:ext>
            </a:extLst>
          </p:cNvPr>
          <p:cNvSpPr txBox="1"/>
          <p:nvPr/>
        </p:nvSpPr>
        <p:spPr>
          <a:xfrm>
            <a:off x="4856479" y="1785487"/>
            <a:ext cx="1964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</a:t>
            </a:r>
          </a:p>
          <a:p>
            <a:r>
              <a:rPr lang="en-US" dirty="0"/>
              <a:t>body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4A8A2B-E66D-8ACA-A6B1-D0B88A91536C}"/>
              </a:ext>
            </a:extLst>
          </p:cNvPr>
          <p:cNvCxnSpPr>
            <a:endCxn id="12" idx="3"/>
          </p:cNvCxnSpPr>
          <p:nvPr/>
        </p:nvCxnSpPr>
        <p:spPr>
          <a:xfrm>
            <a:off x="5960533" y="2108653"/>
            <a:ext cx="8602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D6190A-089B-853B-4654-D77B6212B547}"/>
              </a:ext>
            </a:extLst>
          </p:cNvPr>
          <p:cNvSpPr txBox="1"/>
          <p:nvPr/>
        </p:nvSpPr>
        <p:spPr>
          <a:xfrm>
            <a:off x="4585477" y="2909598"/>
            <a:ext cx="1375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 value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47EBB0-D2A2-36D7-89CF-8F98575913CE}"/>
              </a:ext>
            </a:extLst>
          </p:cNvPr>
          <p:cNvCxnSpPr/>
          <p:nvPr/>
        </p:nvCxnSpPr>
        <p:spPr>
          <a:xfrm flipV="1">
            <a:off x="6190827" y="2431818"/>
            <a:ext cx="799253" cy="5755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CB50C4E-F271-6DE9-7873-AAA41844FCFC}"/>
              </a:ext>
            </a:extLst>
          </p:cNvPr>
          <p:cNvSpPr txBox="1"/>
          <p:nvPr/>
        </p:nvSpPr>
        <p:spPr>
          <a:xfrm>
            <a:off x="9482083" y="642136"/>
            <a:ext cx="1189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arguments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1F52DD0-7175-D640-E972-5CA407C0D27B}"/>
              </a:ext>
            </a:extLst>
          </p:cNvPr>
          <p:cNvCxnSpPr/>
          <p:nvPr/>
        </p:nvCxnSpPr>
        <p:spPr>
          <a:xfrm flipH="1">
            <a:off x="9821333" y="1123043"/>
            <a:ext cx="115147" cy="495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E72C0EBA-2156-DC5A-1B3C-788BA2C20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89" y="1171756"/>
            <a:ext cx="3909561" cy="384501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02EAA19-E40B-4019-5A5C-8D693759B186}"/>
              </a:ext>
            </a:extLst>
          </p:cNvPr>
          <p:cNvSpPr txBox="1"/>
          <p:nvPr/>
        </p:nvSpPr>
        <p:spPr>
          <a:xfrm>
            <a:off x="389147" y="49736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xkcd.com</a:t>
            </a:r>
            <a:r>
              <a:rPr lang="en-US" dirty="0"/>
              <a:t>/1319/</a:t>
            </a:r>
          </a:p>
        </p:txBody>
      </p:sp>
    </p:spTree>
    <p:extLst>
      <p:ext uri="{BB962C8B-B14F-4D97-AF65-F5344CB8AC3E}">
        <p14:creationId xmlns:p14="http://schemas.microsoft.com/office/powerpoint/2010/main" val="3179177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9A0DC5-96D6-AC76-09C9-5C35E3822F89}"/>
              </a:ext>
            </a:extLst>
          </p:cNvPr>
          <p:cNvSpPr txBox="1"/>
          <p:nvPr/>
        </p:nvSpPr>
        <p:spPr>
          <a:xfrm>
            <a:off x="3239510" y="217808"/>
            <a:ext cx="735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Loops (or performing the same operation on many things)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89E326-CBC1-B343-AC5F-DB5EF52F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47" y="1200714"/>
            <a:ext cx="3329684" cy="6577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6AB6A5-131B-1B94-1BE1-975CE2DF3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347" y="2054491"/>
            <a:ext cx="3594100" cy="520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E4B3A31-4713-10F1-264E-753EE8697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5327" y="1529571"/>
            <a:ext cx="5630326" cy="12077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B6F9A7-E702-6C17-D8C5-F7823C8D69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5327" y="3003550"/>
            <a:ext cx="2722684" cy="2794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943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9A0DC5-96D6-AC76-09C9-5C35E3822F89}"/>
              </a:ext>
            </a:extLst>
          </p:cNvPr>
          <p:cNvSpPr txBox="1"/>
          <p:nvPr/>
        </p:nvSpPr>
        <p:spPr>
          <a:xfrm>
            <a:off x="2703729" y="374970"/>
            <a:ext cx="735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Loops (or performing the same operation on many things)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89E326-CBC1-B343-AC5F-DB5EF52F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47" y="1200714"/>
            <a:ext cx="3329684" cy="657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2D61EF-8C35-B3B2-CDA4-DF4E46313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347" y="2314841"/>
            <a:ext cx="4584700" cy="101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C5C157-B92B-1D93-7E74-7ECBDB0F38AF}"/>
              </a:ext>
            </a:extLst>
          </p:cNvPr>
          <p:cNvSpPr txBox="1"/>
          <p:nvPr/>
        </p:nvSpPr>
        <p:spPr>
          <a:xfrm>
            <a:off x="6291385" y="2407138"/>
            <a:ext cx="4501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Function that takes a number and prints it out</a:t>
            </a:r>
          </a:p>
          <a:p>
            <a:r>
              <a:rPr lang="en-US" dirty="0"/>
              <a:t>Just like the loop on the last slide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21F36A-7BDA-359D-95B7-2D2256B4DA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347" y="3804532"/>
            <a:ext cx="5932395" cy="6463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EE0BFA8-DE07-6A7B-16C2-23979434500E}"/>
              </a:ext>
            </a:extLst>
          </p:cNvPr>
          <p:cNvSpPr txBox="1"/>
          <p:nvPr/>
        </p:nvSpPr>
        <p:spPr>
          <a:xfrm>
            <a:off x="7088742" y="3216842"/>
            <a:ext cx="45014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lapply</a:t>
            </a:r>
            <a:r>
              <a:rPr lang="en-US" dirty="0"/>
              <a:t> is a function that takes a list </a:t>
            </a:r>
          </a:p>
          <a:p>
            <a:r>
              <a:rPr lang="en-US" dirty="0"/>
              <a:t>and applies a function to each element </a:t>
            </a:r>
          </a:p>
          <a:p>
            <a:r>
              <a:rPr lang="en-US" dirty="0"/>
              <a:t>of the list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C96972-673F-8D53-E968-9747091D5A36}"/>
              </a:ext>
            </a:extLst>
          </p:cNvPr>
          <p:cNvSpPr txBox="1"/>
          <p:nvPr/>
        </p:nvSpPr>
        <p:spPr>
          <a:xfrm>
            <a:off x="3071446" y="5201926"/>
            <a:ext cx="454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178951-A62F-62D4-2C21-1423AA34FABB}"/>
              </a:ext>
            </a:extLst>
          </p:cNvPr>
          <p:cNvSpPr txBox="1"/>
          <p:nvPr/>
        </p:nvSpPr>
        <p:spPr>
          <a:xfrm>
            <a:off x="5410927" y="5201926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1959FF-6E83-BDB1-4533-8F80CF45848C}"/>
              </a:ext>
            </a:extLst>
          </p:cNvPr>
          <p:cNvCxnSpPr/>
          <p:nvPr/>
        </p:nvCxnSpPr>
        <p:spPr>
          <a:xfrm flipV="1">
            <a:off x="3298752" y="4509477"/>
            <a:ext cx="0" cy="55489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4E6C7C4-0F6F-89A5-8C9E-FF80DDED5D6E}"/>
              </a:ext>
            </a:extLst>
          </p:cNvPr>
          <p:cNvCxnSpPr/>
          <p:nvPr/>
        </p:nvCxnSpPr>
        <p:spPr>
          <a:xfrm flipV="1">
            <a:off x="5895995" y="4589362"/>
            <a:ext cx="0" cy="55489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32D5DA46-7ACF-58D5-7AD7-23973A49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614" y="3804532"/>
            <a:ext cx="1128633" cy="289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99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9A0DC5-96D6-AC76-09C9-5C35E3822F89}"/>
              </a:ext>
            </a:extLst>
          </p:cNvPr>
          <p:cNvSpPr txBox="1"/>
          <p:nvPr/>
        </p:nvSpPr>
        <p:spPr>
          <a:xfrm>
            <a:off x="2703729" y="374970"/>
            <a:ext cx="735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Loops (or performing the same operation on many things)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89E326-CBC1-B343-AC5F-DB5EF52F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47" y="1200714"/>
            <a:ext cx="3329684" cy="6577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6C96972-673F-8D53-E968-9747091D5A36}"/>
              </a:ext>
            </a:extLst>
          </p:cNvPr>
          <p:cNvSpPr txBox="1"/>
          <p:nvPr/>
        </p:nvSpPr>
        <p:spPr>
          <a:xfrm>
            <a:off x="1639334" y="4479432"/>
            <a:ext cx="454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178951-A62F-62D4-2C21-1423AA34FABB}"/>
              </a:ext>
            </a:extLst>
          </p:cNvPr>
          <p:cNvSpPr txBox="1"/>
          <p:nvPr/>
        </p:nvSpPr>
        <p:spPr>
          <a:xfrm>
            <a:off x="4826375" y="5173277"/>
            <a:ext cx="2139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Anonymous function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1959FF-6E83-BDB1-4533-8F80CF45848C}"/>
              </a:ext>
            </a:extLst>
          </p:cNvPr>
          <p:cNvCxnSpPr/>
          <p:nvPr/>
        </p:nvCxnSpPr>
        <p:spPr>
          <a:xfrm flipV="1">
            <a:off x="1866640" y="3837124"/>
            <a:ext cx="0" cy="55489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4E6C7C4-0F6F-89A5-8C9E-FF80DDED5D6E}"/>
              </a:ext>
            </a:extLst>
          </p:cNvPr>
          <p:cNvCxnSpPr>
            <a:cxnSpLocks/>
          </p:cNvCxnSpPr>
          <p:nvPr/>
        </p:nvCxnSpPr>
        <p:spPr>
          <a:xfrm flipH="1" flipV="1">
            <a:off x="5311588" y="3966882"/>
            <a:ext cx="584407" cy="117737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E108EBC-2ACB-C669-1CC0-01016B4C1C5C}"/>
              </a:ext>
            </a:extLst>
          </p:cNvPr>
          <p:cNvSpPr txBox="1"/>
          <p:nvPr/>
        </p:nvSpPr>
        <p:spPr>
          <a:xfrm>
            <a:off x="3915915" y="2569393"/>
            <a:ext cx="39601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 doesn’t have to be have already been made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324D14-3976-5568-B66E-72973C39A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33" y="3312733"/>
            <a:ext cx="6642100" cy="44450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3C5300D-4C89-2514-E380-A4707B2BC2C0}"/>
              </a:ext>
            </a:extLst>
          </p:cNvPr>
          <p:cNvCxnSpPr/>
          <p:nvPr/>
        </p:nvCxnSpPr>
        <p:spPr>
          <a:xfrm>
            <a:off x="2703729" y="3906371"/>
            <a:ext cx="4342530" cy="0"/>
          </a:xfrm>
          <a:prstGeom prst="line">
            <a:avLst/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72679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5A31BF-DADA-ADC0-B660-082C48F44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15489"/>
            <a:ext cx="7772400" cy="24300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A6F919-6AB9-FE21-094E-C97BB265B330}"/>
              </a:ext>
            </a:extLst>
          </p:cNvPr>
          <p:cNvSpPr txBox="1"/>
          <p:nvPr/>
        </p:nvSpPr>
        <p:spPr>
          <a:xfrm>
            <a:off x="5116606" y="60511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Apply functions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1C2518-E085-7E04-0827-5F4698149F3A}"/>
              </a:ext>
            </a:extLst>
          </p:cNvPr>
          <p:cNvSpPr txBox="1"/>
          <p:nvPr/>
        </p:nvSpPr>
        <p:spPr>
          <a:xfrm>
            <a:off x="4985498" y="3190546"/>
            <a:ext cx="6098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https://www.guru99.com/r-apply-</a:t>
            </a:r>
            <a:r>
              <a:rPr lang="en-US" dirty="0" err="1"/>
              <a:t>sapply</a:t>
            </a:r>
            <a:r>
              <a:rPr lang="en-US" dirty="0"/>
              <a:t>-</a:t>
            </a:r>
            <a:r>
              <a:rPr lang="en-US" dirty="0" err="1"/>
              <a:t>tapply.html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466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284" y="1074942"/>
            <a:ext cx="5790107" cy="4708117"/>
          </a:xfrm>
          <a:prstGeom prst="rect">
            <a:avLst/>
          </a:prstGeom>
          <a:ln w="12700">
            <a:miter lim="400000"/>
          </a:ln>
        </p:spPr>
      </p:pic>
      <p:sp>
        <p:nvSpPr>
          <p:cNvPr id="322" name="https://bioconductor.org/packages/release/bioc/vignettes/SummarizedExperiment/inst/doc/SummarizedExperiment.html"/>
          <p:cNvSpPr txBox="1"/>
          <p:nvPr/>
        </p:nvSpPr>
        <p:spPr>
          <a:xfrm>
            <a:off x="266464" y="6347602"/>
            <a:ext cx="5828519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/>
              <a:t>https://bioconductor.org/packages/release/bioc/vignettes/SummarizedExperiment/inst/doc/SummarizedExperiment.html</a:t>
            </a:r>
          </a:p>
        </p:txBody>
      </p:sp>
      <p:sp>
        <p:nvSpPr>
          <p:cNvPr id="323" name="RangedSummarizedExperiment - these represent genomic ranges"/>
          <p:cNvSpPr txBox="1"/>
          <p:nvPr/>
        </p:nvSpPr>
        <p:spPr>
          <a:xfrm>
            <a:off x="1461258" y="1973849"/>
            <a:ext cx="3161122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 dirty="0" err="1"/>
              <a:t>R</a:t>
            </a:r>
            <a:r>
              <a:rPr sz="900" b="1" dirty="0" err="1"/>
              <a:t>angedSummarizedExperiment</a:t>
            </a:r>
            <a:r>
              <a:rPr sz="900" dirty="0"/>
              <a:t> - these represent genomic ranges</a:t>
            </a:r>
          </a:p>
        </p:txBody>
      </p:sp>
      <p:sp>
        <p:nvSpPr>
          <p:cNvPr id="324" name="Line"/>
          <p:cNvSpPr/>
          <p:nvPr/>
        </p:nvSpPr>
        <p:spPr>
          <a:xfrm>
            <a:off x="4592287" y="2225489"/>
            <a:ext cx="1890016" cy="1408642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325" name="DESeqDataSet…"/>
          <p:cNvSpPr txBox="1"/>
          <p:nvPr/>
        </p:nvSpPr>
        <p:spPr>
          <a:xfrm>
            <a:off x="961131" y="2962206"/>
            <a:ext cx="2587247" cy="46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b="1"/>
            </a:pPr>
            <a:r>
              <a:rPr sz="900" dirty="0" err="1"/>
              <a:t>DESeqDataSet</a:t>
            </a:r>
            <a:endParaRPr sz="900" dirty="0"/>
          </a:p>
          <a:p>
            <a:pPr marL="152400" indent="-152400">
              <a:buSzPct val="123000"/>
              <a:buChar char="-"/>
            </a:pPr>
            <a:r>
              <a:rPr sz="900" dirty="0"/>
              <a:t>Non-negative integer counts</a:t>
            </a:r>
          </a:p>
          <a:p>
            <a:pPr marL="152400" indent="-152400">
              <a:buSzPct val="123000"/>
              <a:buChar char="-"/>
            </a:pPr>
            <a:r>
              <a:rPr sz="900" dirty="0"/>
              <a:t>Must have a formula describing experiment design</a:t>
            </a:r>
          </a:p>
        </p:txBody>
      </p:sp>
      <p:sp>
        <p:nvSpPr>
          <p:cNvPr id="326" name="Line"/>
          <p:cNvSpPr/>
          <p:nvPr/>
        </p:nvSpPr>
        <p:spPr>
          <a:xfrm flipV="1">
            <a:off x="1545379" y="2163645"/>
            <a:ext cx="635001" cy="63500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327" name="SummarizedExperiment -"/>
          <p:cNvSpPr txBox="1"/>
          <p:nvPr/>
        </p:nvSpPr>
        <p:spPr>
          <a:xfrm>
            <a:off x="8012410" y="5613089"/>
            <a:ext cx="1267976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 b="1"/>
              <a:t>SummarizedExperiment</a:t>
            </a:r>
            <a:r>
              <a:rPr sz="900"/>
              <a:t> -</a:t>
            </a:r>
          </a:p>
        </p:txBody>
      </p:sp>
      <p:sp>
        <p:nvSpPr>
          <p:cNvPr id="328" name="Rectangle"/>
          <p:cNvSpPr/>
          <p:nvPr/>
        </p:nvSpPr>
        <p:spPr>
          <a:xfrm>
            <a:off x="6609307" y="5390486"/>
            <a:ext cx="1292722" cy="635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grpSp>
        <p:nvGrpSpPr>
          <p:cNvPr id="331" name="Group"/>
          <p:cNvGrpSpPr/>
          <p:nvPr/>
        </p:nvGrpSpPr>
        <p:grpSpPr>
          <a:xfrm>
            <a:off x="3180723" y="371230"/>
            <a:ext cx="5281639" cy="1131145"/>
            <a:chOff x="-1" y="-10369"/>
            <a:chExt cx="10563275" cy="2262287"/>
          </a:xfrm>
        </p:grpSpPr>
        <p:sp>
          <p:nvSpPr>
            <p:cNvPr id="329" name="What is a summarized experiment object"/>
            <p:cNvSpPr txBox="1"/>
            <p:nvPr/>
          </p:nvSpPr>
          <p:spPr>
            <a:xfrm>
              <a:off x="-1" y="-10369"/>
              <a:ext cx="10563275" cy="8412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5400" tIns="25400" rIns="25400" bIns="25400" numCol="1" anchor="ctr">
              <a:spAutoFit/>
            </a:bodyPr>
            <a:lstStyle>
              <a:lvl1pPr>
                <a:defRPr sz="4800" b="1"/>
              </a:lvl1pPr>
            </a:lstStyle>
            <a:p>
              <a:r>
                <a:rPr sz="2400" dirty="0"/>
                <a:t>What is a summarized experiment object</a:t>
              </a:r>
            </a:p>
          </p:txBody>
        </p:sp>
        <p:sp>
          <p:nvSpPr>
            <p:cNvPr id="330" name="Rectangle"/>
            <p:cNvSpPr/>
            <p:nvPr/>
          </p:nvSpPr>
          <p:spPr>
            <a:xfrm>
              <a:off x="5767657" y="981917"/>
              <a:ext cx="4589597" cy="1270001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pPr defTabSz="41275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60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40ECDF-3DEA-1F79-21AD-BE0D9E55328C}"/>
              </a:ext>
            </a:extLst>
          </p:cNvPr>
          <p:cNvSpPr txBox="1"/>
          <p:nvPr/>
        </p:nvSpPr>
        <p:spPr>
          <a:xfrm>
            <a:off x="4822614" y="270933"/>
            <a:ext cx="7321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Suggestions for Best Practices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22633-D20E-1653-DD34-7E9124D3224D}"/>
              </a:ext>
            </a:extLst>
          </p:cNvPr>
          <p:cNvSpPr txBox="1"/>
          <p:nvPr/>
        </p:nvSpPr>
        <p:spPr>
          <a:xfrm>
            <a:off x="1761565" y="1385047"/>
            <a:ext cx="83842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Keep a code notebook</a:t>
            </a:r>
          </a:p>
          <a:p>
            <a:pPr marL="342900" indent="-342900">
              <a:buAutoNum type="arabicPeriod"/>
            </a:pPr>
            <a:r>
              <a:rPr lang="en-US" dirty="0"/>
              <a:t>Work in a script and not the console</a:t>
            </a:r>
          </a:p>
          <a:p>
            <a:pPr marL="342900" indent="-342900">
              <a:buAutoNum type="arabicPeriod"/>
            </a:pPr>
            <a:r>
              <a:rPr lang="en-US" dirty="0"/>
              <a:t>Name variables, functions, scripts something descriptive</a:t>
            </a:r>
          </a:p>
          <a:p>
            <a:pPr marL="342900" indent="-342900">
              <a:buAutoNum type="arabicPeriod"/>
            </a:pPr>
            <a:r>
              <a:rPr lang="en-US" dirty="0"/>
              <a:t>Comment your code heavily</a:t>
            </a:r>
          </a:p>
          <a:p>
            <a:pPr marL="342900" indent="-342900">
              <a:buAutoNum type="arabicPeriod"/>
            </a:pPr>
            <a:r>
              <a:rPr lang="en-US" dirty="0"/>
              <a:t>Have a project structure in mind</a:t>
            </a:r>
          </a:p>
        </p:txBody>
      </p:sp>
    </p:spTree>
    <p:extLst>
      <p:ext uri="{BB962C8B-B14F-4D97-AF65-F5344CB8AC3E}">
        <p14:creationId xmlns:p14="http://schemas.microsoft.com/office/powerpoint/2010/main" val="3713242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40ECDF-3DEA-1F79-21AD-BE0D9E55328C}"/>
              </a:ext>
            </a:extLst>
          </p:cNvPr>
          <p:cNvSpPr txBox="1"/>
          <p:nvPr/>
        </p:nvSpPr>
        <p:spPr>
          <a:xfrm>
            <a:off x="4822614" y="270933"/>
            <a:ext cx="7321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Suggestions for Best Practices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22633-D20E-1653-DD34-7E9124D3224D}"/>
              </a:ext>
            </a:extLst>
          </p:cNvPr>
          <p:cNvSpPr txBox="1"/>
          <p:nvPr/>
        </p:nvSpPr>
        <p:spPr>
          <a:xfrm>
            <a:off x="1761565" y="1385047"/>
            <a:ext cx="83842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Keep a code notebook</a:t>
            </a:r>
          </a:p>
          <a:p>
            <a:pPr marL="342900" indent="-342900">
              <a:buAutoNum type="arabicPeriod"/>
            </a:pPr>
            <a:r>
              <a:rPr lang="en-US" dirty="0"/>
              <a:t>Work in a script and not the console</a:t>
            </a:r>
          </a:p>
          <a:p>
            <a:pPr marL="342900" indent="-342900">
              <a:buAutoNum type="arabicPeriod"/>
            </a:pPr>
            <a:r>
              <a:rPr lang="en-US" dirty="0"/>
              <a:t>Name variables, functions, scripts something descriptive</a:t>
            </a:r>
          </a:p>
          <a:p>
            <a:pPr marL="342900" indent="-342900">
              <a:buAutoNum type="arabicPeriod"/>
            </a:pPr>
            <a:r>
              <a:rPr lang="en-US" dirty="0"/>
              <a:t>Comment your code heavily</a:t>
            </a:r>
          </a:p>
          <a:p>
            <a:pPr marL="342900" indent="-342900">
              <a:buAutoNum type="arabicPeriod"/>
            </a:pPr>
            <a:r>
              <a:rPr lang="en-US" dirty="0"/>
              <a:t>Have a project structure in mind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91D5DA-1D3D-2647-609E-9676951A0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391" y="2974789"/>
            <a:ext cx="224790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5440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40ECDF-3DEA-1F79-21AD-BE0D9E55328C}"/>
              </a:ext>
            </a:extLst>
          </p:cNvPr>
          <p:cNvSpPr txBox="1"/>
          <p:nvPr/>
        </p:nvSpPr>
        <p:spPr>
          <a:xfrm>
            <a:off x="4822614" y="270933"/>
            <a:ext cx="7321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Suggestions for Best Practices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22633-D20E-1653-DD34-7E9124D3224D}"/>
              </a:ext>
            </a:extLst>
          </p:cNvPr>
          <p:cNvSpPr txBox="1"/>
          <p:nvPr/>
        </p:nvSpPr>
        <p:spPr>
          <a:xfrm>
            <a:off x="1761565" y="1385047"/>
            <a:ext cx="838424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Keep a code notebook</a:t>
            </a:r>
          </a:p>
          <a:p>
            <a:pPr marL="342900" indent="-342900">
              <a:buAutoNum type="arabicPeriod"/>
            </a:pPr>
            <a:r>
              <a:rPr lang="en-US" dirty="0"/>
              <a:t>Work in a script and not the console</a:t>
            </a:r>
          </a:p>
          <a:p>
            <a:pPr marL="342900" indent="-342900">
              <a:buAutoNum type="arabicPeriod"/>
            </a:pPr>
            <a:r>
              <a:rPr lang="en-US" dirty="0"/>
              <a:t>Name variables, functions, scripts something descriptive</a:t>
            </a:r>
          </a:p>
          <a:p>
            <a:pPr marL="342900" indent="-342900">
              <a:buAutoNum type="arabicPeriod"/>
            </a:pPr>
            <a:r>
              <a:rPr lang="en-US" dirty="0"/>
              <a:t>Comment your code heavily</a:t>
            </a:r>
          </a:p>
          <a:p>
            <a:pPr marL="342900" indent="-342900">
              <a:buAutoNum type="arabicPeriod"/>
            </a:pPr>
            <a:r>
              <a:rPr lang="en-US" dirty="0"/>
              <a:t>Have a project structure in mind</a:t>
            </a:r>
          </a:p>
          <a:p>
            <a:pPr marL="342900" indent="-342900">
              <a:buAutoNum type="arabicPeriod"/>
            </a:pPr>
            <a:r>
              <a:rPr lang="en-US" dirty="0"/>
              <a:t>Use R projects – keep data and script files together</a:t>
            </a:r>
          </a:p>
          <a:p>
            <a:pPr marL="342900" indent="-342900">
              <a:buAutoNum type="arabicPeriod"/>
            </a:pPr>
            <a:r>
              <a:rPr lang="en-US" dirty="0"/>
              <a:t>Put libraries first</a:t>
            </a:r>
          </a:p>
          <a:p>
            <a:pPr marL="342900" indent="-342900">
              <a:buAutoNum type="arabicPeriod"/>
            </a:pPr>
            <a:r>
              <a:rPr lang="en-US" dirty="0"/>
              <a:t>Put hardcoded paths second</a:t>
            </a:r>
          </a:p>
          <a:p>
            <a:pPr marL="342900" indent="-342900">
              <a:buAutoNum type="arabicPeriod"/>
            </a:pPr>
            <a:r>
              <a:rPr lang="en-US" dirty="0"/>
              <a:t>Don’t repeat yourself – write a function</a:t>
            </a:r>
          </a:p>
          <a:p>
            <a:pPr marL="342900" indent="-342900">
              <a:buAutoNum type="arabicPeriod"/>
            </a:pPr>
            <a:r>
              <a:rPr lang="en-US" dirty="0"/>
              <a:t>Use a consistent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7A16D-B4F6-302B-80BA-FBAD8C396E43}"/>
              </a:ext>
            </a:extLst>
          </p:cNvPr>
          <p:cNvSpPr txBox="1"/>
          <p:nvPr/>
        </p:nvSpPr>
        <p:spPr>
          <a:xfrm>
            <a:off x="4304713" y="6347012"/>
            <a:ext cx="7887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towardsdatascience.com</a:t>
            </a:r>
            <a:r>
              <a:rPr lang="en-US" dirty="0"/>
              <a:t>/best-practices-for-r-programming-ec0754010b5a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A13994-9C85-B49E-135C-64F659864501}"/>
              </a:ext>
            </a:extLst>
          </p:cNvPr>
          <p:cNvSpPr txBox="1"/>
          <p:nvPr/>
        </p:nvSpPr>
        <p:spPr>
          <a:xfrm>
            <a:off x="7553886" y="5977680"/>
            <a:ext cx="6098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https://r4ds.had.co.nz/workflow-</a:t>
            </a:r>
            <a:r>
              <a:rPr lang="en-US" dirty="0" err="1"/>
              <a:t>projects.html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3E2388-7CB7-C595-5083-3BB7B08D142E}"/>
              </a:ext>
            </a:extLst>
          </p:cNvPr>
          <p:cNvSpPr txBox="1"/>
          <p:nvPr/>
        </p:nvSpPr>
        <p:spPr>
          <a:xfrm>
            <a:off x="8342114" y="5608348"/>
            <a:ext cx="68258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style.tidyverse.org</a:t>
            </a:r>
            <a:r>
              <a:rPr lang="en-US" dirty="0"/>
              <a:t>/</a:t>
            </a:r>
            <a:r>
              <a:rPr lang="en-US" dirty="0" err="1"/>
              <a:t>index.html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1B23D8-A74A-36D6-1740-FB3674DC5646}"/>
              </a:ext>
            </a:extLst>
          </p:cNvPr>
          <p:cNvSpPr txBox="1"/>
          <p:nvPr/>
        </p:nvSpPr>
        <p:spPr>
          <a:xfrm>
            <a:off x="7149108" y="5239016"/>
            <a:ext cx="75830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google.github.io</a:t>
            </a:r>
            <a:r>
              <a:rPr lang="en-US" dirty="0"/>
              <a:t>/</a:t>
            </a:r>
            <a:r>
              <a:rPr lang="en-US" dirty="0" err="1"/>
              <a:t>styleguide</a:t>
            </a:r>
            <a:r>
              <a:rPr lang="en-US" dirty="0"/>
              <a:t>/</a:t>
            </a:r>
            <a:r>
              <a:rPr lang="en-US" dirty="0" err="1"/>
              <a:t>Rguide.html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4484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66EE62-CE85-3404-07A6-C94319D05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24" y="718457"/>
            <a:ext cx="5867768" cy="54210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F5E365-D6F3-5971-16A9-F2EAAACE5CE0}"/>
              </a:ext>
            </a:extLst>
          </p:cNvPr>
          <p:cNvSpPr txBox="1"/>
          <p:nvPr/>
        </p:nvSpPr>
        <p:spPr>
          <a:xfrm>
            <a:off x="4174177" y="190005"/>
            <a:ext cx="3937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 Project templates can help set this up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358556-5CAB-5075-8D93-D0E6E17A1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226" y="718457"/>
            <a:ext cx="5444844" cy="56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993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CFDD4-6D6E-A85B-5BF1-3E46D508D3FC}"/>
              </a:ext>
            </a:extLst>
          </p:cNvPr>
          <p:cNvSpPr txBox="1"/>
          <p:nvPr/>
        </p:nvSpPr>
        <p:spPr>
          <a:xfrm>
            <a:off x="3282594" y="297950"/>
            <a:ext cx="58562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Crash Course – what you need to (should) know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5E61C4-629E-16C4-0EF8-ED198C66467C}"/>
              </a:ext>
            </a:extLst>
          </p:cNvPr>
          <p:cNvSpPr txBox="1"/>
          <p:nvPr/>
        </p:nvSpPr>
        <p:spPr>
          <a:xfrm>
            <a:off x="2178121" y="1469205"/>
            <a:ext cx="80652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Basic data structures – vector, </a:t>
            </a:r>
            <a:r>
              <a:rPr lang="en-US" dirty="0" err="1"/>
              <a:t>data.frame</a:t>
            </a:r>
            <a:r>
              <a:rPr lang="en-US" dirty="0"/>
              <a:t>, matrix, </a:t>
            </a:r>
            <a:r>
              <a:rPr lang="en-US" dirty="0" err="1"/>
              <a:t>summarizedExperiment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How to get data into R (</a:t>
            </a:r>
            <a:r>
              <a:rPr lang="en-US" dirty="0" err="1"/>
              <a:t>read_csv</a:t>
            </a:r>
            <a:r>
              <a:rPr lang="en-US" dirty="0"/>
              <a:t>)</a:t>
            </a:r>
          </a:p>
          <a:p>
            <a:pPr marL="342900" indent="-342900">
              <a:buAutoNum type="arabicPeriod"/>
            </a:pPr>
            <a:r>
              <a:rPr lang="en-US" dirty="0"/>
              <a:t>How to use </a:t>
            </a:r>
            <a:r>
              <a:rPr lang="en-US" dirty="0" err="1"/>
              <a:t>tidyverse</a:t>
            </a:r>
            <a:r>
              <a:rPr lang="en-US" dirty="0"/>
              <a:t> to manipulate and explore data</a:t>
            </a:r>
          </a:p>
          <a:p>
            <a:pPr marL="800100" lvl="1" indent="-342900">
              <a:buAutoNum type="arabicPeriod"/>
            </a:pPr>
            <a:r>
              <a:rPr lang="en-US" dirty="0"/>
              <a:t>filter() </a:t>
            </a:r>
            <a:r>
              <a:rPr lang="en-US" dirty="0" err="1"/>
              <a:t>group_by</a:t>
            </a:r>
            <a:r>
              <a:rPr lang="en-US" dirty="0"/>
              <a:t>() mutate()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r>
              <a:rPr lang="en-US" dirty="0"/>
              <a:t>How to plot data </a:t>
            </a:r>
          </a:p>
          <a:p>
            <a:pPr marL="800100" lvl="1" indent="-342900">
              <a:buAutoNum type="arabicPeriod"/>
            </a:pPr>
            <a:r>
              <a:rPr lang="en-US" dirty="0" err="1"/>
              <a:t>ggplot</a:t>
            </a:r>
            <a:r>
              <a:rPr lang="en-US" dirty="0"/>
              <a:t>(data, </a:t>
            </a:r>
            <a:r>
              <a:rPr lang="en-US" dirty="0" err="1"/>
              <a:t>aes</a:t>
            </a:r>
            <a:r>
              <a:rPr lang="en-US" dirty="0"/>
              <a:t>(x = , y =, color = , fill = , shape = ) ) +</a:t>
            </a:r>
          </a:p>
          <a:p>
            <a:pPr lvl="1"/>
            <a:r>
              <a:rPr lang="en-US" dirty="0"/>
              <a:t>	</a:t>
            </a:r>
            <a:r>
              <a:rPr lang="en-US" dirty="0" err="1"/>
              <a:t>geom_point</a:t>
            </a:r>
            <a:r>
              <a:rPr lang="en-US" dirty="0"/>
              <a:t>() + </a:t>
            </a:r>
            <a:r>
              <a:rPr lang="en-US" dirty="0" err="1"/>
              <a:t>geom_boxplot</a:t>
            </a:r>
            <a:r>
              <a:rPr lang="en-US" dirty="0"/>
              <a:t>() + </a:t>
            </a:r>
            <a:r>
              <a:rPr lang="en-US" dirty="0" err="1"/>
              <a:t>geom_col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5. What is a function – why might you make your own	</a:t>
            </a:r>
          </a:p>
        </p:txBody>
      </p:sp>
    </p:spTree>
    <p:extLst>
      <p:ext uri="{BB962C8B-B14F-4D97-AF65-F5344CB8AC3E}">
        <p14:creationId xmlns:p14="http://schemas.microsoft.com/office/powerpoint/2010/main" val="1452045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97D4B-3064-0A16-54B7-66AA0446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BB872D-FE63-4CF4-8116-B6B3526FA5A1}"/>
              </a:ext>
            </a:extLst>
          </p:cNvPr>
          <p:cNvSpPr txBox="1"/>
          <p:nvPr/>
        </p:nvSpPr>
        <p:spPr>
          <a:xfrm>
            <a:off x="2672112" y="1608661"/>
            <a:ext cx="7227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 through intro_R_skeleton_3.R</a:t>
            </a:r>
          </a:p>
        </p:txBody>
      </p:sp>
    </p:spTree>
    <p:extLst>
      <p:ext uri="{BB962C8B-B14F-4D97-AF65-F5344CB8AC3E}">
        <p14:creationId xmlns:p14="http://schemas.microsoft.com/office/powerpoint/2010/main" val="598731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6086</TotalTime>
  <Words>792</Words>
  <Application>Microsoft Macintosh PowerPoint</Application>
  <PresentationFormat>Widescreen</PresentationFormat>
  <Paragraphs>106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Recap from last time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Raab, Jesse</dc:creator>
  <cp:lastModifiedBy>Raab, Jesse</cp:lastModifiedBy>
  <cp:revision>14</cp:revision>
  <dcterms:created xsi:type="dcterms:W3CDTF">2023-04-14T16:35:59Z</dcterms:created>
  <dcterms:modified xsi:type="dcterms:W3CDTF">2026-04-22T00:23:16Z</dcterms:modified>
</cp:coreProperties>
</file>